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10"/>
  </p:notesMasterIdLst>
  <p:sldIdLst>
    <p:sldId id="257" r:id="rId2"/>
    <p:sldId id="258" r:id="rId3"/>
    <p:sldId id="266" r:id="rId4"/>
    <p:sldId id="262" r:id="rId5"/>
    <p:sldId id="263" r:id="rId6"/>
    <p:sldId id="264" r:id="rId7"/>
    <p:sldId id="260" r:id="rId8"/>
    <p:sldId id="261" r:id="rId9"/>
  </p:sldIdLst>
  <p:sldSz cx="12192000" cy="6858000"/>
  <p:notesSz cx="6858000" cy="91440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Source Sans Pro" panose="020B0503030403020204" pitchFamily="3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f21ee7963_2_20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g2ef21ee7963_2_20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9130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166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850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795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9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706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9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936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11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060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990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00601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39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82154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840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501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089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28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/>
        </p:nvSpPr>
        <p:spPr>
          <a:xfrm>
            <a:off x="454051" y="941191"/>
            <a:ext cx="11295105" cy="124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1600" lvl="0" algn="ctr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2000"/>
            </a:pPr>
            <a:endParaRPr lang="en-US" sz="2800" dirty="0">
              <a:solidFill>
                <a:schemeClr val="tx1"/>
              </a:solidFill>
            </a:endParaRPr>
          </a:p>
          <a:p>
            <a:pPr marL="101600" lvl="0" algn="ctr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3200" dirty="0">
                <a:solidFill>
                  <a:schemeClr val="tx1"/>
                </a:solidFill>
              </a:rPr>
              <a:t>Team Name: </a:t>
            </a:r>
            <a:r>
              <a:rPr lang="en-US" sz="3200" b="1" dirty="0">
                <a:solidFill>
                  <a:srgbClr val="FFFF00"/>
                </a:solidFill>
              </a:rPr>
              <a:t>DUALITY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54050" y="111986"/>
            <a:ext cx="106101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</a:pPr>
            <a:endParaRPr lang="en-US" sz="2400" b="1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</a:pPr>
            <a:endParaRPr lang="en-US" sz="2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</a:rPr>
              <a:t>👨‍👦‍👦 </a:t>
            </a:r>
            <a:r>
              <a:rPr lang="en-US" sz="2400" b="1" i="0" u="none" strike="noStrike" cap="none" dirty="0"/>
              <a:t>Team</a:t>
            </a:r>
            <a:r>
              <a:rPr lang="en-US" sz="2400" b="1" dirty="0"/>
              <a:t> details</a:t>
            </a:r>
            <a:endParaRPr sz="1800" i="0" u="none" strike="noStrike" cap="non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61AECD-E8B4-D9B3-D66D-88CEFA701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32472"/>
              </p:ext>
            </p:extLst>
          </p:nvPr>
        </p:nvGraphicFramePr>
        <p:xfrm>
          <a:off x="841943" y="3429000"/>
          <a:ext cx="10510615" cy="185318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88804">
                  <a:extLst>
                    <a:ext uri="{9D8B030D-6E8A-4147-A177-3AD203B41FA5}">
                      <a16:colId xmlns:a16="http://schemas.microsoft.com/office/drawing/2014/main" val="913402171"/>
                    </a:ext>
                  </a:extLst>
                </a:gridCol>
                <a:gridCol w="4403586">
                  <a:extLst>
                    <a:ext uri="{9D8B030D-6E8A-4147-A177-3AD203B41FA5}">
                      <a16:colId xmlns:a16="http://schemas.microsoft.com/office/drawing/2014/main" val="1581223188"/>
                    </a:ext>
                  </a:extLst>
                </a:gridCol>
                <a:gridCol w="2918225">
                  <a:extLst>
                    <a:ext uri="{9D8B030D-6E8A-4147-A177-3AD203B41FA5}">
                      <a16:colId xmlns:a16="http://schemas.microsoft.com/office/drawing/2014/main" val="671817660"/>
                    </a:ext>
                  </a:extLst>
                </a:gridCol>
              </a:tblGrid>
              <a:tr h="606552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Name</a:t>
                      </a:r>
                      <a:endParaRPr lang="en-IN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Email ID</a:t>
                      </a:r>
                      <a:endParaRPr lang="en-IN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Number no</a:t>
                      </a:r>
                      <a:endParaRPr lang="en-IN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28924"/>
                  </a:ext>
                </a:extLst>
              </a:tr>
              <a:tr h="60655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X S Minisha Alias Lincy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minishalincy123@gmail.com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9901288026</a:t>
                      </a:r>
                      <a:endParaRPr lang="en-I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05570"/>
                  </a:ext>
                </a:extLst>
              </a:tr>
              <a:tr h="606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/>
                        <a:t>Darshan Ramesh</a:t>
                      </a:r>
                      <a:endParaRPr lang="en-IN" sz="1800"/>
                    </a:p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/>
                        <a:t>darshanramesh2004@gmail.com </a:t>
                      </a:r>
                    </a:p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/>
                        <a:t>9900581945</a:t>
                      </a:r>
                    </a:p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867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AF8D4A-0F51-4843-C79F-DF435B27C75D}"/>
              </a:ext>
            </a:extLst>
          </p:cNvPr>
          <p:cNvSpPr txBox="1"/>
          <p:nvPr/>
        </p:nvSpPr>
        <p:spPr>
          <a:xfrm>
            <a:off x="4869235" y="2645467"/>
            <a:ext cx="27326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dk1"/>
                </a:solidFill>
              </a:rPr>
              <a:t>Team Members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554691" y="711517"/>
            <a:ext cx="11484158" cy="367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800" b="1" dirty="0">
                <a:solidFill>
                  <a:schemeClr val="tx1"/>
                </a:solidFill>
              </a:rPr>
              <a:t>📝 </a:t>
            </a:r>
            <a:r>
              <a:rPr lang="en-US" sz="2800" b="1" dirty="0">
                <a:solidFill>
                  <a:srgbClr val="FFFF00"/>
                </a:solidFill>
              </a:rPr>
              <a:t>Theme – Lack of on-the-go, need-based support to teachers</a:t>
            </a:r>
            <a:r>
              <a:rPr lang="en-US" sz="2800" b="1" dirty="0">
                <a:solidFill>
                  <a:schemeClr val="tx1"/>
                </a:solidFill>
              </a:rPr>
              <a:t> </a:t>
            </a:r>
            <a:endParaRPr lang="en-US" sz="2800" b="1" i="0" u="none" strike="noStrike" cap="none" dirty="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EA795-BC3E-F91C-3BB3-E3348CAACCC8}"/>
              </a:ext>
            </a:extLst>
          </p:cNvPr>
          <p:cNvSpPr txBox="1"/>
          <p:nvPr/>
        </p:nvSpPr>
        <p:spPr>
          <a:xfrm>
            <a:off x="388085" y="1525120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00330"/>
            <a:r>
              <a:rPr lang="en-GB" sz="2200" b="1" kern="1200" dirty="0">
                <a:solidFill>
                  <a:schemeClr val="bg1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📌 </a:t>
            </a:r>
            <a:r>
              <a:rPr lang="en-GB" sz="2200" b="1" kern="1200" dirty="0">
                <a:latin typeface="Arial"/>
                <a:ea typeface="+mn-ea"/>
                <a:cs typeface="+mn-cs"/>
              </a:rPr>
              <a:t>Theme Overview</a:t>
            </a:r>
            <a:endParaRPr lang="en-GB" sz="2200" b="1" kern="1200" dirty="0">
              <a:latin typeface="Arial"/>
              <a:ea typeface="+mn-ea"/>
            </a:endParaRP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D79F3-99D9-39BB-020E-79B84314329D}"/>
              </a:ext>
            </a:extLst>
          </p:cNvPr>
          <p:cNvSpPr txBox="1"/>
          <p:nvPr/>
        </p:nvSpPr>
        <p:spPr>
          <a:xfrm>
            <a:off x="554691" y="2233006"/>
            <a:ext cx="11082618" cy="25340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Teachers across diverse classrooms face real-time instructional and classroom-management challenges that cannot be addressed through periodic training or delayed mentoring, as existing systems provide largely generic feedback. As a result, teachers struggle to apply new strategies in live classrooms and revert to traditional methods. This highlights the need for just-in-time, personalized coaching during moments of practice. At the same time, CRPs, ARPs, and BRPs lack real-time visibility into classroom realities, limiting their ability to provide timely, data-driven support through periodic visits.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D099F7-910C-E357-261B-9A107D4B5AD1}"/>
              </a:ext>
            </a:extLst>
          </p:cNvPr>
          <p:cNvSpPr txBox="1"/>
          <p:nvPr/>
        </p:nvSpPr>
        <p:spPr>
          <a:xfrm>
            <a:off x="410062" y="1383096"/>
            <a:ext cx="11071412" cy="33636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Our solution is to develop a </a:t>
            </a:r>
            <a:r>
              <a:rPr lang="en-US" sz="1800" b="1" dirty="0">
                <a:solidFill>
                  <a:schemeClr val="tx1"/>
                </a:solidFill>
              </a:rPr>
              <a:t>web-based application with </a:t>
            </a:r>
            <a:r>
              <a:rPr lang="en-US" b="1" dirty="0"/>
              <a:t>Low Network Capabilities </a:t>
            </a:r>
            <a:r>
              <a:rPr lang="en-US" sz="1800" dirty="0">
                <a:solidFill>
                  <a:schemeClr val="tx1"/>
                </a:solidFill>
              </a:rPr>
              <a:t>that includes a multilingual AI classroom assistant and offline support, enabling teachers to seek guidance during real-time classroom challenges. Teachers can use text, voice, or images to receive personalized support through short activities and learning resources. At the same time, </a:t>
            </a:r>
            <a:r>
              <a:rPr lang="en-US" sz="1800" b="1" dirty="0">
                <a:solidFill>
                  <a:schemeClr val="tx1"/>
                </a:solidFill>
              </a:rPr>
              <a:t>CRPs, ARPs, and BRPs</a:t>
            </a:r>
            <a:r>
              <a:rPr lang="en-US" sz="1800" dirty="0">
                <a:solidFill>
                  <a:schemeClr val="tx1"/>
                </a:solidFill>
              </a:rPr>
              <a:t> gain real-time visibility into teachers’ classroom data through dashboards, allowing timely academic and mentoring support. The platform also supports peer solution sharing and alert-based assistance to strengthen everyday classroom support.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75696-E4F3-42DB-BF51-E16BB1154136}"/>
              </a:ext>
            </a:extLst>
          </p:cNvPr>
          <p:cNvSpPr txBox="1"/>
          <p:nvPr/>
        </p:nvSpPr>
        <p:spPr>
          <a:xfrm>
            <a:off x="292075" y="621600"/>
            <a:ext cx="38548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📌 </a:t>
            </a:r>
            <a:r>
              <a:rPr lang="en-GB" sz="2200" b="1" dirty="0"/>
              <a:t>Solution Overview</a:t>
            </a:r>
            <a:r>
              <a:rPr sz="2200" dirty="0">
                <a:solidFill>
                  <a:schemeClr val="bg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​</a:t>
            </a:r>
            <a:endParaRPr lang="en-US" sz="2200" dirty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26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0D81A24D-015C-8E8A-0036-D794853787D0}"/>
              </a:ext>
            </a:extLst>
          </p:cNvPr>
          <p:cNvSpPr txBox="1"/>
          <p:nvPr/>
        </p:nvSpPr>
        <p:spPr>
          <a:xfrm>
            <a:off x="-5391" y="-5124"/>
            <a:ext cx="11485605" cy="61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000" dirty="0">
              <a:solidFill>
                <a:schemeClr val="dk1"/>
              </a:solidFill>
            </a:endParaRPr>
          </a:p>
          <a:p>
            <a:pPr marL="101600">
              <a:lnSpc>
                <a:spcPct val="114999"/>
              </a:lnSpc>
              <a:spcBef>
                <a:spcPts val="1000"/>
              </a:spcBef>
            </a:pPr>
            <a:endParaRPr lang="en-US" sz="2400" dirty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marL="101600">
              <a:lnSpc>
                <a:spcPct val="114999"/>
              </a:lnSpc>
              <a:spcBef>
                <a:spcPts val="1000"/>
              </a:spcBef>
              <a:buClr>
                <a:schemeClr val="dk1"/>
              </a:buClr>
              <a:buSzPts val="2000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1800" b="1" dirty="0"/>
              <a:t>Real-Time Support Gap:</a:t>
            </a:r>
            <a:r>
              <a:rPr lang="en-US" sz="1800" dirty="0"/>
              <a:t> Teachers face classroom problems in the moment, but current support arrives weeks later through CRP/ARP visits. This delay causes teachers to abandon innovative methods and return to rote teaching, reducing learning quality.</a:t>
            </a:r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1800" b="1" dirty="0"/>
              <a:t>Need for Personalized, On-Demand Coaching:</a:t>
            </a:r>
            <a:r>
              <a:rPr lang="en-US" sz="1800" dirty="0"/>
              <a:t> Every classroom is different, and teachers need immediate, context-specific guidance when challenges occur, which traditional workshops and delayed feedback cannot provide.</a:t>
            </a:r>
            <a:endParaRPr lang="en-US" dirty="0"/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1800" b="1" dirty="0"/>
              <a:t>Limited Visibility for CRP, ARP, and BRP:</a:t>
            </a:r>
            <a:r>
              <a:rPr lang="en-US" sz="1800" dirty="0"/>
              <a:t> Resource persons currently lack real-time insight into classroom struggles, making it difficult for them to give targeted, data-driven academic and mentoring support.</a:t>
            </a:r>
          </a:p>
          <a:p>
            <a:pPr marL="101600" marR="0" lvl="2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600"/>
              <a:buFont typeface="Noto Sans Symbols"/>
              <a:buNone/>
            </a:pPr>
            <a:endParaRPr sz="20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2A09E-4472-67EE-C6DA-1B9E6D57B3ED}"/>
              </a:ext>
            </a:extLst>
          </p:cNvPr>
          <p:cNvSpPr txBox="1"/>
          <p:nvPr/>
        </p:nvSpPr>
        <p:spPr>
          <a:xfrm>
            <a:off x="362140" y="738708"/>
            <a:ext cx="70110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B2E4FF"/>
                </a:solidFill>
              </a:rPr>
              <a:t>📌</a:t>
            </a:r>
            <a:r>
              <a:rPr lang="en-US" sz="2000" b="1">
                <a:solidFill>
                  <a:srgbClr val="B2E4FF"/>
                </a:solidFill>
              </a:rPr>
              <a:t> </a:t>
            </a:r>
            <a:r>
              <a:rPr lang="en-US" sz="2400" b="1">
                <a:solidFill>
                  <a:schemeClr val="tx1"/>
                </a:solidFill>
              </a:rPr>
              <a:t>Reasons for selecting this theme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87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C46FC-6FFF-41E0-F1E0-B4F54C0D0308}"/>
              </a:ext>
            </a:extLst>
          </p:cNvPr>
          <p:cNvSpPr txBox="1"/>
          <p:nvPr/>
        </p:nvSpPr>
        <p:spPr>
          <a:xfrm>
            <a:off x="356357" y="906519"/>
            <a:ext cx="1146361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1. AI Classroom Assistant: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Teachers can ask classroom doubts using text, voice, or images and receive personalized, context-aware solutions with feedback on whether they worked.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2. Low Network Capabilities:</a:t>
            </a:r>
            <a:r>
              <a:rPr lang="en-US" sz="1800" dirty="0"/>
              <a:t> </a:t>
            </a:r>
            <a:r>
              <a:rPr lang="en-US" dirty="0"/>
              <a:t>Works smoothly in low network conditions, allowing teachers to access tips, past queries, and resources with minimal connectivity.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3. Short Educational Videos: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Teachers get quick, bite-sized teaching tips and strategy videos that can be watched anytime, even offline, during free or extra class time.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4. Multilingual Language Support: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The entire app works in multiple languages, allowing teachers to use the platform in their preferred local language.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5</a:t>
            </a:r>
            <a:r>
              <a:rPr lang="en-US" sz="1800" b="1" dirty="0"/>
              <a:t>. Planning &amp; Reminders: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Teachers can plan daily tasks and classroom goals using an in-app calendar and notes, with automatic reminders and notifications to support timely follow-through.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2BC19-9559-E178-AB95-BA0936FC25C4}"/>
              </a:ext>
            </a:extLst>
          </p:cNvPr>
          <p:cNvSpPr txBox="1"/>
          <p:nvPr/>
        </p:nvSpPr>
        <p:spPr>
          <a:xfrm>
            <a:off x="356357" y="279565"/>
            <a:ext cx="510645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B2E4FF"/>
                </a:solidFill>
              </a:rPr>
              <a:t>📌</a:t>
            </a:r>
            <a:r>
              <a:rPr lang="en-US" sz="22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 </a:t>
            </a:r>
            <a:r>
              <a:rPr lang="en-US" sz="2200" b="1" dirty="0">
                <a:solidFill>
                  <a:schemeClr val="tx1"/>
                </a:solidFill>
              </a:rPr>
              <a:t>App Features</a:t>
            </a:r>
          </a:p>
        </p:txBody>
      </p:sp>
    </p:spTree>
    <p:extLst>
      <p:ext uri="{BB962C8B-B14F-4D97-AF65-F5344CB8AC3E}">
        <p14:creationId xmlns:p14="http://schemas.microsoft.com/office/powerpoint/2010/main" val="260193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B817C1-E64F-4CA9-52C4-71BADBE465B6}"/>
              </a:ext>
            </a:extLst>
          </p:cNvPr>
          <p:cNvSpPr txBox="1"/>
          <p:nvPr/>
        </p:nvSpPr>
        <p:spPr>
          <a:xfrm>
            <a:off x="672353" y="375276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bg1">
                    <a:lumMod val="20000"/>
                    <a:lumOff val="80000"/>
                  </a:schemeClr>
                </a:solidFill>
              </a:rPr>
              <a:t>📌</a:t>
            </a:r>
            <a:r>
              <a:rPr lang="en-US" sz="2400" b="1">
                <a:solidFill>
                  <a:schemeClr val="bg1">
                    <a:lumMod val="20000"/>
                    <a:lumOff val="80000"/>
                  </a:schemeClr>
                </a:solidFill>
              </a:rPr>
              <a:t> </a:t>
            </a:r>
            <a:r>
              <a:rPr lang="en-US" sz="2200" b="1" baseline="0">
                <a:solidFill>
                  <a:schemeClr val="tx1"/>
                </a:solidFill>
                <a:latin typeface="Arial"/>
              </a:rPr>
              <a:t>Frameworks/Technologies stacks</a:t>
            </a:r>
            <a:endParaRPr lang="en-US" sz="2200" b="1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5FB2C-14A2-E666-A3F9-CA6926C6AB10}"/>
              </a:ext>
            </a:extLst>
          </p:cNvPr>
          <p:cNvSpPr txBox="1"/>
          <p:nvPr/>
        </p:nvSpPr>
        <p:spPr>
          <a:xfrm>
            <a:off x="670112" y="943784"/>
            <a:ext cx="10555940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800" b="1" kern="100" dirty="0">
                <a:latin typeface="Arial"/>
                <a:ea typeface="Aptos"/>
                <a:cs typeface="Times New Roman"/>
              </a:rPr>
              <a:t>Frontend</a:t>
            </a:r>
            <a:r>
              <a:rPr lang="en-IN" sz="1800" b="1" kern="100" dirty="0">
                <a:ea typeface="Aptos"/>
                <a:cs typeface="Times New Roman"/>
              </a:rPr>
              <a:t> -&gt;</a:t>
            </a:r>
            <a:r>
              <a:rPr lang="en-IN" sz="1800" kern="100" dirty="0">
                <a:ea typeface="Aptos"/>
                <a:cs typeface="Times New Roman"/>
              </a:rPr>
              <a:t> </a:t>
            </a:r>
            <a:endParaRPr lang="en-US" sz="1800" dirty="0">
              <a:ea typeface="Aptos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IN" sz="1800" b="1" kern="100" dirty="0">
                <a:solidFill>
                  <a:schemeClr val="tx1"/>
                </a:solidFill>
                <a:ea typeface="Aptos"/>
              </a:rPr>
              <a:t>                  Next.js</a:t>
            </a:r>
            <a:r>
              <a:rPr lang="en-IN" sz="1800" kern="100" dirty="0">
                <a:solidFill>
                  <a:schemeClr val="tx1"/>
                </a:solidFill>
                <a:latin typeface="Arial"/>
                <a:ea typeface="Aptos"/>
              </a:rPr>
              <a:t> </a:t>
            </a:r>
            <a:r>
              <a:rPr lang="en-IN" sz="1800" kern="100" dirty="0">
                <a:solidFill>
                  <a:schemeClr val="tx1"/>
                </a:solidFill>
                <a:ea typeface="Aptos"/>
              </a:rPr>
              <a:t>(Web UI for teachers, CRP, ARP, BRP Dashboards),</a:t>
            </a:r>
            <a:endParaRPr lang="en-US" sz="18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IN" sz="1800" kern="100" dirty="0">
                <a:solidFill>
                  <a:schemeClr val="tx1"/>
                </a:solidFill>
                <a:ea typeface="Aptos"/>
              </a:rPr>
              <a:t>                  </a:t>
            </a:r>
            <a:r>
              <a:rPr lang="en-IN" sz="1800" b="1" kern="100" dirty="0">
                <a:solidFill>
                  <a:schemeClr val="tx1"/>
                </a:solidFill>
                <a:ea typeface="Aptos"/>
              </a:rPr>
              <a:t>PWA</a:t>
            </a:r>
            <a:r>
              <a:rPr lang="en-IN" sz="1800" kern="100" dirty="0">
                <a:solidFill>
                  <a:schemeClr val="tx1"/>
                </a:solidFill>
                <a:ea typeface="Aptos"/>
              </a:rPr>
              <a:t> (Offline access, caching, notifications),</a:t>
            </a:r>
          </a:p>
          <a:p>
            <a:pPr algn="just">
              <a:lnSpc>
                <a:spcPct val="150000"/>
              </a:lnSpc>
            </a:pPr>
            <a:r>
              <a:rPr lang="en-IN" sz="1800" kern="100" dirty="0">
                <a:solidFill>
                  <a:schemeClr val="tx1"/>
                </a:solidFill>
                <a:ea typeface="Aptos"/>
              </a:rPr>
              <a:t>                  </a:t>
            </a:r>
            <a:r>
              <a:rPr lang="en-IN" sz="1800" b="1" kern="100" dirty="0">
                <a:solidFill>
                  <a:schemeClr val="tx1"/>
                </a:solidFill>
                <a:ea typeface="Aptos"/>
              </a:rPr>
              <a:t>i18n (Next-i18next)</a:t>
            </a:r>
            <a:r>
              <a:rPr lang="en-IN" sz="1800" kern="100" dirty="0">
                <a:solidFill>
                  <a:schemeClr val="tx1"/>
                </a:solidFill>
                <a:ea typeface="Aptos"/>
              </a:rPr>
              <a:t> → Multilingual UI (labels, buttons, screens)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800" b="1" kern="100" dirty="0">
                <a:solidFill>
                  <a:schemeClr val="bg1">
                    <a:lumMod val="20000"/>
                    <a:lumOff val="80000"/>
                  </a:schemeClr>
                </a:solidFill>
                <a:ea typeface="Aptos"/>
                <a:cs typeface="Times New Roman"/>
              </a:rPr>
              <a:t>   </a:t>
            </a:r>
            <a:r>
              <a:rPr lang="en-IN" sz="1800" b="1" kern="100" dirty="0">
                <a:ea typeface="Aptos"/>
                <a:cs typeface="Times New Roman"/>
              </a:rPr>
              <a:t>Backend -&gt; 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IN" sz="1800" b="1" kern="100" dirty="0">
                <a:solidFill>
                  <a:schemeClr val="tx1"/>
                </a:solidFill>
                <a:ea typeface="Aptos"/>
              </a:rPr>
              <a:t>                  Python</a:t>
            </a:r>
            <a:r>
              <a:rPr lang="en-IN" sz="1800" kern="100" dirty="0">
                <a:solidFill>
                  <a:schemeClr val="tx1"/>
                </a:solidFill>
                <a:ea typeface="Aptos"/>
              </a:rPr>
              <a:t> (Core backend logic and processing)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sz="1800" b="1" kern="100" dirty="0">
                <a:solidFill>
                  <a:schemeClr val="tx1"/>
                </a:solidFill>
                <a:ea typeface="Aptos"/>
              </a:rPr>
              <a:t>                  </a:t>
            </a:r>
            <a:r>
              <a:rPr lang="en-IN" sz="1800" b="1" kern="100" dirty="0" err="1">
                <a:solidFill>
                  <a:schemeClr val="tx1"/>
                </a:solidFill>
                <a:ea typeface="Aptos"/>
              </a:rPr>
              <a:t>FastAPI</a:t>
            </a:r>
            <a:r>
              <a:rPr lang="en-IN" sz="1800" kern="100" dirty="0">
                <a:solidFill>
                  <a:schemeClr val="tx1"/>
                </a:solidFill>
                <a:ea typeface="Aptos"/>
              </a:rPr>
              <a:t> (APIs, AI orchestration</a:t>
            </a:r>
            <a:r>
              <a:rPr lang="en-IN" sz="1800" kern="100" dirty="0">
                <a:solidFill>
                  <a:schemeClr val="tx1"/>
                </a:solidFill>
                <a:latin typeface="Arial"/>
                <a:ea typeface="Aptos"/>
              </a:rPr>
              <a:t>, </a:t>
            </a:r>
            <a:r>
              <a:rPr lang="en-IN" sz="1800" kern="100" dirty="0">
                <a:solidFill>
                  <a:schemeClr val="tx1"/>
                </a:solidFill>
                <a:ea typeface="Aptos"/>
              </a:rPr>
              <a:t>data flow)</a:t>
            </a:r>
            <a:endParaRPr lang="en-IN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800" b="1" kern="100" dirty="0">
                <a:latin typeface="Arial"/>
                <a:ea typeface="Aptos"/>
                <a:cs typeface="Times New Roman"/>
              </a:rPr>
              <a:t>Database</a:t>
            </a:r>
            <a:r>
              <a:rPr lang="en-IN" sz="1800" b="1" kern="100" dirty="0">
                <a:ea typeface="Aptos"/>
                <a:cs typeface="Times New Roman"/>
              </a:rPr>
              <a:t> -&gt;</a:t>
            </a:r>
            <a:r>
              <a:rPr lang="en-IN" sz="1800" kern="100" dirty="0">
                <a:latin typeface="Arial"/>
                <a:ea typeface="Aptos"/>
                <a:cs typeface="Times New Roman"/>
              </a:rPr>
              <a:t> </a:t>
            </a:r>
            <a:endParaRPr lang="en-IN" sz="1800" kern="100" dirty="0">
              <a:ea typeface="Aptos"/>
              <a:cs typeface="Times New Roman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IN" sz="1800" kern="100" dirty="0">
                <a:solidFill>
                  <a:schemeClr val="tx1"/>
                </a:solidFill>
                <a:ea typeface="Aptos"/>
                <a:cs typeface="Times New Roman"/>
              </a:rPr>
              <a:t>                  </a:t>
            </a:r>
            <a:r>
              <a:rPr lang="en-IN" sz="1800" kern="100" dirty="0">
                <a:solidFill>
                  <a:schemeClr val="tx1"/>
                </a:solidFill>
                <a:latin typeface="Arial"/>
                <a:ea typeface="Aptos"/>
                <a:cs typeface="Times New Roman"/>
              </a:rPr>
              <a:t>MongoDB (NoSQL database that efficiently stores large volumes of data)</a:t>
            </a:r>
            <a:endParaRPr lang="en-IN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Clr>
                <a:srgbClr val="FFFFFF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800" b="1" kern="100" dirty="0"/>
              <a:t>AI &amp; Language Layer (Mixed) :</a:t>
            </a:r>
            <a:endParaRPr lang="en-IN" sz="1800" kern="100" dirty="0"/>
          </a:p>
          <a:p>
            <a:pPr algn="just">
              <a:lnSpc>
                <a:spcPct val="150000"/>
              </a:lnSpc>
              <a:buClr>
                <a:srgbClr val="FFFFFF"/>
              </a:buClr>
              <a:buSzPct val="120000"/>
            </a:pPr>
            <a:r>
              <a:rPr lang="en-IN" sz="1800" b="1" kern="100" dirty="0">
                <a:solidFill>
                  <a:schemeClr val="tx1"/>
                </a:solidFill>
              </a:rPr>
              <a:t>                  Hugging Face Models</a:t>
            </a:r>
            <a:r>
              <a:rPr lang="en-IN" sz="1800" kern="100" dirty="0">
                <a:solidFill>
                  <a:schemeClr val="tx1"/>
                </a:solidFill>
              </a:rPr>
              <a:t> (Classroom issue classification, intent detection)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sz="1800" b="1" kern="100" dirty="0">
                <a:solidFill>
                  <a:schemeClr val="tx1"/>
                </a:solidFill>
              </a:rPr>
              <a:t>                  Gemini</a:t>
            </a:r>
            <a:r>
              <a:rPr lang="en-IN" sz="1800" kern="100" dirty="0">
                <a:solidFill>
                  <a:schemeClr val="tx1"/>
                </a:solidFill>
              </a:rPr>
              <a:t> (Personalized teaching advice and coaching responses)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sz="1800" b="1" kern="100" dirty="0">
                <a:solidFill>
                  <a:schemeClr val="tx1"/>
                </a:solidFill>
              </a:rPr>
              <a:t>                  IndicTrans2 (AI4Bharat)</a:t>
            </a:r>
            <a:r>
              <a:rPr lang="en-IN" sz="1800" kern="100" dirty="0">
                <a:solidFill>
                  <a:schemeClr val="tx1"/>
                </a:solidFill>
              </a:rPr>
              <a:t>  (Indian language translation for input/output)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lang="en-IN" sz="1800" kern="100" dirty="0">
              <a:solidFill>
                <a:schemeClr val="tx1"/>
              </a:solidFill>
              <a:cs typeface="Times New Roman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0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1871334" y="145844"/>
            <a:ext cx="8263267" cy="3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📊 </a:t>
            </a:r>
            <a:r>
              <a:rPr lang="en-US" sz="2400" b="1" i="0" u="none" strike="noStrike" cap="none" dirty="0">
                <a:ea typeface="Source Sans Pro"/>
                <a:cs typeface="Source Sans Pro"/>
                <a:sym typeface="Source Sans Pro"/>
              </a:rPr>
              <a:t>Architecture diagram</a:t>
            </a:r>
            <a:r>
              <a:rPr lang="en-US" sz="2400" b="1" i="0" u="none" strike="noStrike" cap="none" dirty="0"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lang="en-US" sz="1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2DA99FE-96D0-E445-5202-F3B1BC882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" y="713232"/>
            <a:ext cx="11823192" cy="591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4008666" y="2665781"/>
            <a:ext cx="3686333" cy="90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</a:pPr>
            <a:r>
              <a:rPr lang="en-US" sz="4800" b="1" i="0" u="none" strike="noStrike" cap="none" dirty="0">
                <a:latin typeface="Source Sans Pro"/>
                <a:ea typeface="Source Sans Pro"/>
                <a:cs typeface="Source Sans Pro"/>
                <a:sym typeface="Source Sans Pr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644</Words>
  <Application>Microsoft Office PowerPoint</Application>
  <PresentationFormat>Widescreen</PresentationFormat>
  <Paragraphs>49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Source Sans Pro</vt:lpstr>
      <vt:lpstr>Calibri</vt:lpstr>
      <vt:lpstr>Century Gothic</vt:lpstr>
      <vt:lpstr>Wingdings 3</vt:lpstr>
      <vt:lpstr>Arial</vt:lpstr>
      <vt:lpstr>Aptos</vt:lpstr>
      <vt:lpstr>Times New Roman</vt:lpstr>
      <vt:lpstr>Noto Sans Symbols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minisha</dc:creator>
  <cp:lastModifiedBy>Darshan Ramesh</cp:lastModifiedBy>
  <cp:revision>3</cp:revision>
  <dcterms:modified xsi:type="dcterms:W3CDTF">2026-01-25T06:27:56Z</dcterms:modified>
</cp:coreProperties>
</file>